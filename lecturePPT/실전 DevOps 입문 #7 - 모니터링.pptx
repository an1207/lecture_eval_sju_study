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y="5143500" cx="9144000"/>
  <p:notesSz cx="6858000" cy="9144000"/>
  <p:embeddedFontLst>
    <p:embeddedFont>
      <p:font typeface="Proxima Nova"/>
      <p:regular r:id="rId45"/>
      <p:bold r:id="rId46"/>
      <p:italic r:id="rId47"/>
      <p:boldItalic r:id="rId48"/>
    </p:embeddedFont>
    <p:embeddedFont>
      <p:font typeface="Noto Sans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font" Target="fonts/ProximaNova-bold.fntdata"/><Relationship Id="rId45" Type="http://schemas.openxmlformats.org/officeDocument/2006/relationships/font" Target="fonts/ProximaNova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ProximaNova-boldItalic.fntdata"/><Relationship Id="rId47" Type="http://schemas.openxmlformats.org/officeDocument/2006/relationships/font" Target="fonts/ProximaNova-italic.fntdata"/><Relationship Id="rId49" Type="http://schemas.openxmlformats.org/officeDocument/2006/relationships/font" Target="fonts/Noto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NotoSans-italic.fntdata"/><Relationship Id="rId50" Type="http://schemas.openxmlformats.org/officeDocument/2006/relationships/font" Target="fonts/NotoSans-bold.fntdata"/><Relationship Id="rId52" Type="http://schemas.openxmlformats.org/officeDocument/2006/relationships/font" Target="fonts/Noto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eac6135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eac61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5561489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5561489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eac61357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eac6135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180b4f8d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180b4f8d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307bb162b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307bb162b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310ee5721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310ee5721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831ab675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831ab675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310ee572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310ee572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310ee572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310ee572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310ee572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310ee572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307bb162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307bb162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310ee5721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310ee572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310ee5721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f310ee5721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310ee5721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310ee5721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310ee572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310ee572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310ee5721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310ee5721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310ee5721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310ee5721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310ee5721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310ee5721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310ee5721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f310ee5721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310ee5721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f310ee5721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310ee5721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310ee5721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310ee5721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f310ee5721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310ee5721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f310ee5721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310ee5721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f310ee5721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310ee5721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f310ee5721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310ee5721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f310ee5721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310ee5721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f310ee5721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310ee5721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f310ee5721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310ee5721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f310ee5721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310ee5721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f310ee5721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310ee5721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f310ee5721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310ee5721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f310ee5721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310ee5721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f310ee5721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f310ee5721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f310ee5721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310ee5721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f310ee5721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f310ee5721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f310ee5721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f3130083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f3130083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f31300836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f31300836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31300836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f31300836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localhost:9209/metrics" TargetMode="External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about:blank" TargetMode="External"/><Relationship Id="rId4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://monitoring_server_public_ip:3000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://127.0.0.1:9090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about:blank" TargetMode="External"/><Relationship Id="rId4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실전 DevOps 입문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강의 목표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600">
                <a:solidFill>
                  <a:schemeClr val="accent1"/>
                </a:solidFill>
              </a:rPr>
              <a:t>서비스 모니터링과 문서화</a:t>
            </a:r>
            <a:endParaRPr b="1" sz="2600"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b="1" lang="ko"/>
              <a:t>PM2 기본 메트릭을 Prometheus 로 수집하고 Grafana로 시각화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ko"/>
              <a:t>처음보는 사람도 프로젝트를 쉽게 알수 있도록 문서화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54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강의 산출물</a:t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0225" y="1180050"/>
            <a:ext cx="6523541" cy="381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요구사항 분석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모니터링 서버 환경 구성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Prometheus와 Grafana 구성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Monitoring </a:t>
            </a:r>
            <a:r>
              <a:rPr lang="ko"/>
              <a:t>인스턴스 생성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리전 선택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아시아 태평양 (서울)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Monitoring 인스턴스 생성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이름: monitoring_devops-test_01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OS: Ubuntu 24.04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인스턴스 유형: t3.small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키페어: 만들어 놨던 키페어 사용 (key_devops-test)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보안그룹: 보안 그룹 생성 - SSH 허용 (위치무관), HTTPS 허용, HTTP 허용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스토리지: gp3, 8gb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pm2 metric exporter</a:t>
            </a:r>
            <a:r>
              <a:rPr lang="ko"/>
              <a:t> 설치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26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/>
              <a:t># </a:t>
            </a:r>
            <a:r>
              <a:rPr lang="ko" sz="1600"/>
              <a:t>Backend </a:t>
            </a:r>
            <a:r>
              <a:rPr lang="ko" sz="1600"/>
              <a:t>서버에서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1600"/>
              <a:t>pm2 install pm2-metrics</a:t>
            </a:r>
            <a:endParaRPr b="1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9" title="ChatGPT Image 2026년 7월 5일 오후 08_18_32.png"/>
          <p:cNvPicPr preferRelativeResize="0"/>
          <p:nvPr/>
        </p:nvPicPr>
        <p:blipFill rotWithShape="1">
          <a:blip r:embed="rId3">
            <a:alphaModFix/>
          </a:blip>
          <a:srcRect b="0" l="0" r="0" t="16185"/>
          <a:stretch/>
        </p:blipFill>
        <p:spPr>
          <a:xfrm>
            <a:off x="2425" y="416200"/>
            <a:ext cx="9139152" cy="431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curl 설치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sudo apt-get update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/>
              <a:t>sudo apt-get install -y curl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pm2 메트릭 </a:t>
            </a:r>
            <a:r>
              <a:rPr lang="ko"/>
              <a:t>설치 확인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13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/>
              <a:t># 프로세스와 엔드포인트 확인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600"/>
              <a:t>pm2 list</a:t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1600"/>
              <a:t>curl </a:t>
            </a:r>
            <a:r>
              <a:rPr b="1" lang="ko" sz="1600" u="sng">
                <a:solidFill>
                  <a:schemeClr val="hlink"/>
                </a:solidFill>
                <a:hlinkClick r:id="rId3"/>
              </a:rPr>
              <a:t>http://localhost:9209/metrics</a:t>
            </a:r>
            <a:r>
              <a:rPr b="1" lang="ko" sz="1600"/>
              <a:t>  (cpu, memory </a:t>
            </a:r>
            <a:r>
              <a:rPr b="1" lang="ko" sz="1600"/>
              <a:t>등 여러 메트릭 확인 가능</a:t>
            </a:r>
            <a:r>
              <a:rPr b="1" lang="ko" sz="1600"/>
              <a:t>)</a:t>
            </a:r>
            <a:endParaRPr b="1" sz="1600"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9538" y="2474875"/>
            <a:ext cx="7084928" cy="236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prometheus </a:t>
            </a:r>
            <a:r>
              <a:rPr lang="ko"/>
              <a:t>설치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/>
              <a:t># monitor 서버에서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600"/>
              <a:t>sudo apt update</a:t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600"/>
              <a:t>sudo apt install -y prometheus </a:t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600"/>
              <a:t># 확인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600"/>
              <a:t>prometheus --version</a:t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600"/>
              <a:t>promtool --version</a:t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600"/>
              <a:t>sudo systemctl status prometheus (꺼저 있으면 sudo systemctl enable --now prometheus)</a:t>
            </a:r>
            <a:endParaRPr b="1"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975" y="485775"/>
            <a:ext cx="7820025" cy="41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Prometheus </a:t>
            </a:r>
            <a:r>
              <a:rPr lang="ko"/>
              <a:t>세팅</a:t>
            </a:r>
            <a:endParaRPr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</a:t>
            </a:r>
            <a:r>
              <a:rPr lang="ko"/>
              <a:t>잘못될수 있으니 환경설정 파일 백업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sudo cp /etc/prometheus/prometheus.yml /etc/prometheus/prometheus.yml.bak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sudo vi </a:t>
            </a:r>
            <a:r>
              <a:rPr b="1" lang="ko"/>
              <a:t>/etc/prometheus/prometheus.yml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scrape_configs 중 job name이 node로 되있는 것은 삭제, 삭제한곳에 job 추가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Prometheus 세팅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target</a:t>
            </a:r>
            <a:r>
              <a:rPr lang="ko"/>
              <a:t>의 IP는 backend 서버의 private ip</a:t>
            </a:r>
            <a:endParaRPr/>
          </a:p>
        </p:txBody>
      </p:sp>
      <p:pic>
        <p:nvPicPr>
          <p:cNvPr id="132" name="Google Shape;13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463" y="1730438"/>
            <a:ext cx="8601075" cy="313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Prometheus 세팅 확인</a:t>
            </a:r>
            <a:endParaRPr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371325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환경설정 파일 체크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promtool check config /etc/prometheus/prometheus.yml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600" y="2152425"/>
            <a:ext cx="7934325" cy="60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Prometheus 재시작</a:t>
            </a:r>
            <a:endParaRPr/>
          </a:p>
        </p:txBody>
      </p:sp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371325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재시작 및 상태 확인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sudo systemctl restart prometheus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sudo systemctl status prometheus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600" y="2362200"/>
            <a:ext cx="7934325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메트릭 수집 확인</a:t>
            </a:r>
            <a:endParaRPr/>
          </a:p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monitoring </a:t>
            </a:r>
            <a:r>
              <a:rPr lang="ko"/>
              <a:t>서버에서 backend 서버가 제공하는 메트릭을 조회 한지 확인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/>
              <a:t>curl </a:t>
            </a:r>
            <a:r>
              <a:rPr b="1" lang="ko" u="sng">
                <a:solidFill>
                  <a:schemeClr val="hlink"/>
                </a:solidFill>
                <a:hlinkClick r:id="rId3"/>
              </a:rPr>
              <a:t>http://{BACKEND_PRIVATE_IP}:9209/metrics</a:t>
            </a:r>
            <a:r>
              <a:rPr b="1" lang="ko"/>
              <a:t> - 접속이 안된다면 보안 그룹 확인</a:t>
            </a:r>
            <a:endParaRPr b="1"/>
          </a:p>
        </p:txBody>
      </p:sp>
      <p:pic>
        <p:nvPicPr>
          <p:cNvPr id="153" name="Google Shape;15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238750"/>
            <a:ext cx="8520600" cy="290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메트릭 수집 확인</a:t>
            </a:r>
            <a:endParaRPr/>
          </a:p>
        </p:txBody>
      </p:sp>
      <p:sp>
        <p:nvSpPr>
          <p:cNvPr id="159" name="Google Shape;15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Prometheus </a:t>
            </a:r>
            <a:r>
              <a:rPr lang="ko"/>
              <a:t>가 수집한 데이터를 제공하는지 확인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/>
              <a:t>curl -s http://localhost:9090/api/v1/targets | python3 -m json.tool</a:t>
            </a:r>
            <a:endParaRPr b="1"/>
          </a:p>
        </p:txBody>
      </p:sp>
      <p:pic>
        <p:nvPicPr>
          <p:cNvPr id="160" name="Google Shape;16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81091"/>
            <a:ext cx="9144001" cy="1899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Grafana </a:t>
            </a:r>
            <a:r>
              <a:rPr lang="ko"/>
              <a:t>설치 준비</a:t>
            </a:r>
            <a:endParaRPr/>
          </a:p>
        </p:txBody>
      </p:sp>
      <p:sp>
        <p:nvSpPr>
          <p:cNvPr id="166" name="Google Shape;16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Grafana</a:t>
            </a:r>
            <a:r>
              <a:rPr lang="ko"/>
              <a:t>는 </a:t>
            </a:r>
            <a:r>
              <a:rPr lang="ko"/>
              <a:t>Ubuntu </a:t>
            </a:r>
            <a:r>
              <a:rPr lang="ko"/>
              <a:t>기본 저장소가 아닌 Grafana 저장소에 있음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#</a:t>
            </a:r>
            <a:r>
              <a:rPr lang="ko"/>
              <a:t> Grafana </a:t>
            </a:r>
            <a:r>
              <a:rPr lang="ko"/>
              <a:t>저장소는 </a:t>
            </a:r>
            <a:r>
              <a:rPr lang="ko"/>
              <a:t>https</a:t>
            </a:r>
            <a:r>
              <a:rPr lang="ko"/>
              <a:t>로 접속하기 때문에 https를 사용하기 위해 필요 패키지 설치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sudo apt-get install -y apt-transport-https wget gnupg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sudo mkdir -p /etc/apt/keyrings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sudo wget -O /etc/apt/keyrings/grafana.asc https://apt.grafana.com/gpg-full.key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sudo chmod 644 /etc/apt/keyrings/grafana.asc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/>
              <a:t>echo "deb [signed-by=/etc/apt/keyrings/grafana.asc] https://apt.grafana.com stable main" | sudo tee /etc/apt/sources.list.d/grafana.list</a:t>
            </a:r>
            <a:endParaRPr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Grafana 설치</a:t>
            </a:r>
            <a:endParaRPr/>
          </a:p>
        </p:txBody>
      </p:sp>
      <p:sp>
        <p:nvSpPr>
          <p:cNvPr id="172" name="Google Shape;17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sudo apt-get update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/>
              <a:t>sudo apt-get install -y grafana</a:t>
            </a:r>
            <a:endParaRPr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Grafana </a:t>
            </a:r>
            <a:r>
              <a:rPr lang="ko"/>
              <a:t>설치 확인</a:t>
            </a:r>
            <a:endParaRPr/>
          </a:p>
        </p:txBody>
      </p:sp>
      <p:sp>
        <p:nvSpPr>
          <p:cNvPr id="178" name="Google Shape;17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sudo systemctl enable --now grafana-server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sudo systemctl status grafana-server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# 브라우저 접속 확인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u="sng">
                <a:solidFill>
                  <a:schemeClr val="hlink"/>
                </a:solidFill>
                <a:hlinkClick r:id="rId3"/>
              </a:rPr>
              <a:t>http://{MONITORING_PUBLIC_IP}:3000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(접속이 안된다면 보안 그룹 확인, </a:t>
            </a:r>
            <a:r>
              <a:rPr lang="ko"/>
              <a:t>첫 로그인은 ID: admin, PW: admin</a:t>
            </a:r>
            <a:r>
              <a:rPr lang="ko"/>
              <a:t>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Grafana</a:t>
            </a:r>
            <a:r>
              <a:rPr lang="ko"/>
              <a:t>에서 Prometheus 연결</a:t>
            </a:r>
            <a:endParaRPr/>
          </a:p>
        </p:txBody>
      </p:sp>
      <p:sp>
        <p:nvSpPr>
          <p:cNvPr id="184" name="Google Shape;18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그라파나 화면에서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Connections → Data sources → Add data source → Prometheus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connection 에 </a:t>
            </a:r>
            <a:r>
              <a:rPr lang="ko" u="sng">
                <a:solidFill>
                  <a:schemeClr val="hlink"/>
                </a:solidFill>
                <a:hlinkClick r:id="rId3"/>
              </a:rPr>
              <a:t>http://127.0.0.1:9090</a:t>
            </a:r>
            <a:r>
              <a:rPr lang="ko"/>
              <a:t> (같은 서버에 있기 때문)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하단의 save &amp; test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1" name="Google Shape;19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72610"/>
            <a:ext cx="9143999" cy="4398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Grafana </a:t>
            </a:r>
            <a:r>
              <a:rPr lang="ko"/>
              <a:t>대시보드 만들기</a:t>
            </a:r>
            <a:endParaRPr/>
          </a:p>
        </p:txBody>
      </p:sp>
      <p:sp>
        <p:nvSpPr>
          <p:cNvPr id="197" name="Google Shape;19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Dashboards → Create dashboard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CPU 사용율 Panel로 만들어 보기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우측의 [+] 버튼 → Configure visualization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판넬 추가</a:t>
            </a:r>
            <a:endParaRPr/>
          </a:p>
        </p:txBody>
      </p:sp>
      <p:sp>
        <p:nvSpPr>
          <p:cNvPr id="203" name="Google Shape;203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Data source:</a:t>
            </a:r>
            <a:r>
              <a:rPr lang="ko"/>
              <a:t> prometheus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[Builder / code]: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Query: pm2_cpu{name="pm2-metrics"}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name 으로 수집되는 항목은 pm2 내의 프로세스 이름 → pm2 list 명령으로 프로세스 이름을 확인하자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이름이 다를수도 있어서 curl </a:t>
            </a:r>
            <a:r>
              <a:rPr lang="ko" u="sng">
                <a:solidFill>
                  <a:schemeClr val="hlink"/>
                </a:solidFill>
                <a:hlinkClick r:id="rId3"/>
              </a:rPr>
              <a:t>http://{BACKEND_PRIVATE_IP}:9209/metrics</a:t>
            </a:r>
            <a:r>
              <a:rPr lang="ko"/>
              <a:t> | grep cpu 로 확인</a:t>
            </a:r>
            <a:endParaRPr/>
          </a:p>
        </p:txBody>
      </p:sp>
      <p:pic>
        <p:nvPicPr>
          <p:cNvPr id="204" name="Google Shape;20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613545"/>
            <a:ext cx="9143999" cy="2529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12138"/>
            <a:ext cx="8839200" cy="4519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Grafana </a:t>
            </a:r>
            <a:r>
              <a:rPr lang="ko"/>
              <a:t>에서 제공하는 pm2 기본 데시보드</a:t>
            </a:r>
            <a:endParaRPr/>
          </a:p>
        </p:txBody>
      </p:sp>
      <p:sp>
        <p:nvSpPr>
          <p:cNvPr id="222" name="Google Shape;222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Grafana 접속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→ Dashboards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→ New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→ Import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→ Import via grafana.com에 12745 입력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→ Load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→ Prometheus datasource를 네 prometheus로 선택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→ Import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9" name="Google Shape;22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기본 메트릭의 한계</a:t>
            </a:r>
            <a:endParaRPr/>
          </a:p>
        </p:txBody>
      </p:sp>
      <p:sp>
        <p:nvSpPr>
          <p:cNvPr id="235" name="Google Shape;235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운영시에는 시스템 메트릭이 아닌 커스텀 메트릭이 필요할 때가 있음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하루 방문자를 봐야 함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작성된 게시물 갯수를 봐야 함 등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커스텀 메트릭도 추가할 수 있으니 각자 추가해서 대시보드에 추가해 보세요!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문서화</a:t>
            </a:r>
            <a:endParaRPr/>
          </a:p>
        </p:txBody>
      </p:sp>
      <p:sp>
        <p:nvSpPr>
          <p:cNvPr id="241" name="Google Shape;241;p42"/>
          <p:cNvSpPr txBox="1"/>
          <p:nvPr>
            <p:ph idx="1" type="body"/>
          </p:nvPr>
        </p:nvSpPr>
        <p:spPr>
          <a:xfrm>
            <a:off x="311700" y="1152475"/>
            <a:ext cx="8520600" cy="12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프로젝트의 사용 설</a:t>
            </a:r>
            <a:r>
              <a:rPr lang="ko"/>
              <a:t>명, 인수인계용 문서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처음보는 사람도 구조, 실행 방법을 이해할 수 있어야 함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README에 들어갈 핵심 항목</a:t>
            </a:r>
            <a:endParaRPr/>
          </a:p>
        </p:txBody>
      </p:sp>
      <p:sp>
        <p:nvSpPr>
          <p:cNvPr id="247" name="Google Shape;247;p43"/>
          <p:cNvSpPr/>
          <p:nvPr/>
        </p:nvSpPr>
        <p:spPr>
          <a:xfrm>
            <a:off x="311650" y="1371200"/>
            <a:ext cx="2761500" cy="1261800"/>
          </a:xfrm>
          <a:prstGeom prst="roundRect">
            <a:avLst>
              <a:gd fmla="val 7246" name="adj"/>
            </a:avLst>
          </a:prstGeom>
          <a:solidFill>
            <a:srgbClr val="EFF6FF"/>
          </a:solidFill>
          <a:ln cap="flat" cmpd="sng" w="15225">
            <a:solidFill>
              <a:srgbClr val="8EB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3"/>
          <p:cNvSpPr/>
          <p:nvPr/>
        </p:nvSpPr>
        <p:spPr>
          <a:xfrm>
            <a:off x="492992" y="1526648"/>
            <a:ext cx="239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64D2"/>
              </a:buClr>
              <a:buSzPts val="1550"/>
              <a:buFont typeface="Noto Sans"/>
              <a:buNone/>
            </a:pPr>
            <a:r>
              <a:rPr b="1" i="0" lang="ko" sz="1550" u="none" cap="none" strike="noStrike">
                <a:solidFill>
                  <a:srgbClr val="2364D2"/>
                </a:solidFill>
                <a:latin typeface="Noto Sans"/>
                <a:ea typeface="Noto Sans"/>
                <a:cs typeface="Noto Sans"/>
                <a:sym typeface="Noto Sans"/>
              </a:rPr>
              <a:t>프로젝트 개요</a:t>
            </a:r>
            <a:endParaRPr b="0" i="0" sz="155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9" name="Google Shape;249;p43"/>
          <p:cNvSpPr/>
          <p:nvPr/>
        </p:nvSpPr>
        <p:spPr>
          <a:xfrm>
            <a:off x="492992" y="1901552"/>
            <a:ext cx="23988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60"/>
              <a:buFont typeface="Noto Sans"/>
              <a:buNone/>
            </a:pPr>
            <a:r>
              <a:rPr b="0" i="0" lang="ko" sz="1260" u="none" cap="none" strike="noStrik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서비스 목적, 주요 기능, 사용 기술 스택</a:t>
            </a:r>
            <a:endParaRPr b="0" i="0" sz="126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0" name="Google Shape;250;p43"/>
          <p:cNvSpPr/>
          <p:nvPr/>
        </p:nvSpPr>
        <p:spPr>
          <a:xfrm>
            <a:off x="3191260" y="1371200"/>
            <a:ext cx="2761500" cy="1261800"/>
          </a:xfrm>
          <a:prstGeom prst="roundRect">
            <a:avLst>
              <a:gd fmla="val 7246" name="adj"/>
            </a:avLst>
          </a:prstGeom>
          <a:solidFill>
            <a:srgbClr val="EFFAF3"/>
          </a:solidFill>
          <a:ln cap="flat" cmpd="sng" w="15225">
            <a:solidFill>
              <a:srgbClr val="66D9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43"/>
          <p:cNvSpPr/>
          <p:nvPr/>
        </p:nvSpPr>
        <p:spPr>
          <a:xfrm>
            <a:off x="3372603" y="1526648"/>
            <a:ext cx="239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7244"/>
              </a:buClr>
              <a:buSzPts val="1550"/>
              <a:buFont typeface="Noto Sans"/>
              <a:buNone/>
            </a:pPr>
            <a:r>
              <a:rPr b="1" i="0" lang="ko" sz="1550" u="none" cap="none" strike="noStrike">
                <a:solidFill>
                  <a:srgbClr val="247244"/>
                </a:solidFill>
                <a:latin typeface="Noto Sans"/>
                <a:ea typeface="Noto Sans"/>
                <a:cs typeface="Noto Sans"/>
                <a:sym typeface="Noto Sans"/>
              </a:rPr>
              <a:t>인프라 구조</a:t>
            </a:r>
            <a:endParaRPr b="0" i="0" sz="155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2" name="Google Shape;252;p43"/>
          <p:cNvSpPr/>
          <p:nvPr/>
        </p:nvSpPr>
        <p:spPr>
          <a:xfrm>
            <a:off x="3372603" y="1901552"/>
            <a:ext cx="23988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60"/>
              <a:buFont typeface="Noto Sans"/>
              <a:buNone/>
            </a:pPr>
            <a:r>
              <a:rPr b="0" i="0" lang="ko" sz="1260" u="none" cap="none" strike="noStrik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App / DB / Monitoring 서버와 통신 흐름</a:t>
            </a:r>
            <a:endParaRPr b="0" i="0" sz="126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3" name="Google Shape;253;p43"/>
          <p:cNvSpPr/>
          <p:nvPr/>
        </p:nvSpPr>
        <p:spPr>
          <a:xfrm>
            <a:off x="6070848" y="1371200"/>
            <a:ext cx="2761500" cy="1261800"/>
          </a:xfrm>
          <a:prstGeom prst="roundRect">
            <a:avLst>
              <a:gd fmla="val 7246" name="adj"/>
            </a:avLst>
          </a:prstGeom>
          <a:solidFill>
            <a:srgbClr val="EFF6FF"/>
          </a:solidFill>
          <a:ln cap="flat" cmpd="sng" w="15225">
            <a:solidFill>
              <a:srgbClr val="8EB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43"/>
          <p:cNvSpPr/>
          <p:nvPr/>
        </p:nvSpPr>
        <p:spPr>
          <a:xfrm>
            <a:off x="6252190" y="1526648"/>
            <a:ext cx="239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64D2"/>
              </a:buClr>
              <a:buSzPts val="1550"/>
              <a:buFont typeface="Noto Sans"/>
              <a:buNone/>
            </a:pPr>
            <a:r>
              <a:rPr b="1" i="0" lang="ko" sz="1550" u="none" cap="none" strike="noStrike">
                <a:solidFill>
                  <a:srgbClr val="2364D2"/>
                </a:solidFill>
                <a:latin typeface="Noto Sans"/>
                <a:ea typeface="Noto Sans"/>
                <a:cs typeface="Noto Sans"/>
                <a:sym typeface="Noto Sans"/>
              </a:rPr>
              <a:t>실행 방법</a:t>
            </a:r>
            <a:endParaRPr b="0" i="0" sz="155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5" name="Google Shape;255;p43"/>
          <p:cNvSpPr/>
          <p:nvPr/>
        </p:nvSpPr>
        <p:spPr>
          <a:xfrm>
            <a:off x="6252190" y="1901552"/>
            <a:ext cx="23988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60"/>
              <a:buFont typeface="Noto Sans"/>
              <a:buNone/>
            </a:pPr>
            <a:r>
              <a:rPr b="0" i="0" lang="ko" sz="1260" u="none" cap="none" strike="noStrik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설치, 빌드, PM2 실행, 환경변수</a:t>
            </a:r>
            <a:endParaRPr b="0" i="0" sz="126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6" name="Google Shape;256;p43"/>
          <p:cNvSpPr/>
          <p:nvPr/>
        </p:nvSpPr>
        <p:spPr>
          <a:xfrm>
            <a:off x="311700" y="2986475"/>
            <a:ext cx="2761500" cy="1261800"/>
          </a:xfrm>
          <a:prstGeom prst="roundRect">
            <a:avLst>
              <a:gd fmla="val 7246" name="adj"/>
            </a:avLst>
          </a:prstGeom>
          <a:solidFill>
            <a:srgbClr val="EFFAF3"/>
          </a:solidFill>
          <a:ln cap="flat" cmpd="sng" w="15225">
            <a:solidFill>
              <a:srgbClr val="66D9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43"/>
          <p:cNvSpPr/>
          <p:nvPr/>
        </p:nvSpPr>
        <p:spPr>
          <a:xfrm>
            <a:off x="493049" y="3141923"/>
            <a:ext cx="239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7244"/>
              </a:buClr>
              <a:buSzPts val="1550"/>
              <a:buFont typeface="Noto Sans"/>
              <a:buNone/>
            </a:pPr>
            <a:r>
              <a:rPr b="1" i="0" lang="ko" sz="1550" u="none" cap="none" strike="noStrike">
                <a:solidFill>
                  <a:srgbClr val="247244"/>
                </a:solidFill>
                <a:latin typeface="Noto Sans"/>
                <a:ea typeface="Noto Sans"/>
                <a:cs typeface="Noto Sans"/>
                <a:sym typeface="Noto Sans"/>
              </a:rPr>
              <a:t>모니터링 구성</a:t>
            </a:r>
            <a:endParaRPr b="0" i="0" sz="155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8" name="Google Shape;258;p43"/>
          <p:cNvSpPr/>
          <p:nvPr/>
        </p:nvSpPr>
        <p:spPr>
          <a:xfrm>
            <a:off x="493049" y="3516827"/>
            <a:ext cx="23988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60"/>
              <a:buFont typeface="Noto Sans"/>
              <a:buNone/>
            </a:pPr>
            <a:r>
              <a:rPr b="0" i="0" lang="ko" sz="1260" u="none" cap="none" strike="noStrik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PM2 exporter, Prometheus, Grafana 연결</a:t>
            </a:r>
            <a:endParaRPr b="0" i="0" sz="126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9" name="Google Shape;259;p43"/>
          <p:cNvSpPr/>
          <p:nvPr/>
        </p:nvSpPr>
        <p:spPr>
          <a:xfrm>
            <a:off x="3191251" y="2986475"/>
            <a:ext cx="2761500" cy="1261800"/>
          </a:xfrm>
          <a:prstGeom prst="roundRect">
            <a:avLst>
              <a:gd fmla="val 7246" name="adj"/>
            </a:avLst>
          </a:prstGeom>
          <a:solidFill>
            <a:srgbClr val="EFF6FF"/>
          </a:solidFill>
          <a:ln cap="flat" cmpd="sng" w="15225">
            <a:solidFill>
              <a:srgbClr val="8EB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43"/>
          <p:cNvSpPr/>
          <p:nvPr/>
        </p:nvSpPr>
        <p:spPr>
          <a:xfrm>
            <a:off x="3372599" y="3141923"/>
            <a:ext cx="239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64D2"/>
              </a:buClr>
              <a:buSzPts val="1550"/>
              <a:buFont typeface="Noto Sans"/>
              <a:buNone/>
            </a:pPr>
            <a:r>
              <a:rPr b="1" i="0" lang="ko" sz="1550" u="none" cap="none" strike="noStrike">
                <a:solidFill>
                  <a:srgbClr val="2364D2"/>
                </a:solidFill>
                <a:latin typeface="Noto Sans"/>
                <a:ea typeface="Noto Sans"/>
                <a:cs typeface="Noto Sans"/>
                <a:sym typeface="Noto Sans"/>
              </a:rPr>
              <a:t>접속 정보</a:t>
            </a:r>
            <a:endParaRPr b="0" i="0" sz="155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1" name="Google Shape;261;p43"/>
          <p:cNvSpPr/>
          <p:nvPr/>
        </p:nvSpPr>
        <p:spPr>
          <a:xfrm>
            <a:off x="3372599" y="3516827"/>
            <a:ext cx="23988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60"/>
              <a:buFont typeface="Noto Sans"/>
              <a:buNone/>
            </a:pPr>
            <a:r>
              <a:rPr b="0" i="0" lang="ko" sz="1260" u="none" cap="none" strike="noStrik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API, Grafana, Prometheus URL과 포트</a:t>
            </a:r>
            <a:endParaRPr b="0" i="0" sz="126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2" name="Google Shape;262;p43"/>
          <p:cNvSpPr/>
          <p:nvPr/>
        </p:nvSpPr>
        <p:spPr>
          <a:xfrm>
            <a:off x="6070799" y="2986475"/>
            <a:ext cx="2761500" cy="1261800"/>
          </a:xfrm>
          <a:prstGeom prst="roundRect">
            <a:avLst>
              <a:gd fmla="val 7246" name="adj"/>
            </a:avLst>
          </a:prstGeom>
          <a:solidFill>
            <a:srgbClr val="EFFAF3"/>
          </a:solidFill>
          <a:ln cap="flat" cmpd="sng" w="15225">
            <a:solidFill>
              <a:srgbClr val="66D9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43"/>
          <p:cNvSpPr/>
          <p:nvPr/>
        </p:nvSpPr>
        <p:spPr>
          <a:xfrm>
            <a:off x="6252148" y="3141923"/>
            <a:ext cx="239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7244"/>
              </a:buClr>
              <a:buSzPts val="1550"/>
              <a:buFont typeface="Noto Sans"/>
              <a:buNone/>
            </a:pPr>
            <a:r>
              <a:rPr b="1" i="0" lang="ko" sz="1550" u="none" cap="none" strike="noStrike">
                <a:solidFill>
                  <a:srgbClr val="247244"/>
                </a:solidFill>
                <a:latin typeface="Noto Sans"/>
                <a:ea typeface="Noto Sans"/>
                <a:cs typeface="Noto Sans"/>
                <a:sym typeface="Noto Sans"/>
              </a:rPr>
              <a:t>트러블슈팅</a:t>
            </a:r>
            <a:endParaRPr b="0" i="0" sz="155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4" name="Google Shape;264;p43"/>
          <p:cNvSpPr/>
          <p:nvPr/>
        </p:nvSpPr>
        <p:spPr>
          <a:xfrm>
            <a:off x="6252148" y="3516827"/>
            <a:ext cx="23988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60"/>
              <a:buFont typeface="Noto Sans"/>
              <a:buNone/>
            </a:pPr>
            <a:r>
              <a:rPr b="0" i="0" lang="ko" sz="1260" u="none" cap="none" strike="noStrik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자주 발생한 오류와 확인 명령어</a:t>
            </a:r>
            <a:endParaRPr b="0" i="0" sz="126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AI</a:t>
            </a:r>
            <a:r>
              <a:rPr lang="ko"/>
              <a:t>로 README 초안 만들기</a:t>
            </a:r>
            <a:endParaRPr/>
          </a:p>
        </p:txBody>
      </p:sp>
      <p:sp>
        <p:nvSpPr>
          <p:cNvPr id="270" name="Google Shape;270;p44"/>
          <p:cNvSpPr/>
          <p:nvPr/>
        </p:nvSpPr>
        <p:spPr>
          <a:xfrm>
            <a:off x="311700" y="1152475"/>
            <a:ext cx="8520600" cy="2872800"/>
          </a:xfrm>
          <a:prstGeom prst="roundRect">
            <a:avLst>
              <a:gd fmla="val 3137" name="adj"/>
            </a:avLst>
          </a:prstGeom>
          <a:solidFill>
            <a:srgbClr val="171B22"/>
          </a:solidFill>
          <a:ln cap="flat" cmpd="sng" w="12700">
            <a:solidFill>
              <a:srgbClr val="2C33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44"/>
          <p:cNvSpPr/>
          <p:nvPr/>
        </p:nvSpPr>
        <p:spPr>
          <a:xfrm>
            <a:off x="476300" y="1298775"/>
            <a:ext cx="8355900" cy="25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F6"/>
              </a:buClr>
              <a:buSzPts val="1250"/>
              <a:buFont typeface="Arial"/>
              <a:buNone/>
            </a:pPr>
            <a:r>
              <a:rPr b="0" i="0" lang="ko" sz="1250" u="none" cap="none" strike="noStrike">
                <a:solidFill>
                  <a:srgbClr val="EEF3F6"/>
                </a:solidFill>
                <a:latin typeface="Arial"/>
                <a:ea typeface="Arial"/>
                <a:cs typeface="Arial"/>
                <a:sym typeface="Arial"/>
              </a:rPr>
              <a:t>다음 프로젝트의 README.md 초안을 작성해줘.</a:t>
            </a:r>
            <a:endParaRPr b="0" i="0" sz="125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Noto Sans"/>
              <a:buNone/>
            </a:pPr>
            <a:r>
              <a:t/>
            </a:r>
            <a:endParaRPr b="0" i="0" sz="125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F6"/>
              </a:buClr>
              <a:buSzPts val="1250"/>
              <a:buFont typeface="Arial"/>
              <a:buNone/>
            </a:pPr>
            <a:r>
              <a:rPr b="0" i="0" lang="ko" sz="1250" u="none" cap="none" strike="noStrike">
                <a:solidFill>
                  <a:srgbClr val="EEF3F6"/>
                </a:solidFill>
                <a:latin typeface="Arial"/>
                <a:ea typeface="Arial"/>
                <a:cs typeface="Arial"/>
                <a:sym typeface="Arial"/>
              </a:rPr>
              <a:t>- 서비스: Node.js/NestJS 기반 강의 평가 API</a:t>
            </a:r>
            <a:endParaRPr b="0" i="0" sz="125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F6"/>
              </a:buClr>
              <a:buSzPts val="1250"/>
              <a:buFont typeface="Arial"/>
              <a:buNone/>
            </a:pPr>
            <a:r>
              <a:rPr b="0" i="0" lang="ko" sz="1250" u="none" cap="none" strike="noStrike">
                <a:solidFill>
                  <a:srgbClr val="EEF3F6"/>
                </a:solidFill>
                <a:latin typeface="Arial"/>
                <a:ea typeface="Arial"/>
                <a:cs typeface="Arial"/>
                <a:sym typeface="Arial"/>
              </a:rPr>
              <a:t>- 인프라: App Server EC2, DB Server EC2, Monitoring Server EC2</a:t>
            </a:r>
            <a:endParaRPr b="0" i="0" sz="125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F6"/>
              </a:buClr>
              <a:buSzPts val="1250"/>
              <a:buFont typeface="Arial"/>
              <a:buNone/>
            </a:pPr>
            <a:r>
              <a:rPr b="0" i="0" lang="ko" sz="1250" u="none" cap="none" strike="noStrike">
                <a:solidFill>
                  <a:srgbClr val="EEF3F6"/>
                </a:solidFill>
                <a:latin typeface="Arial"/>
                <a:ea typeface="Arial"/>
                <a:cs typeface="Arial"/>
                <a:sym typeface="Arial"/>
              </a:rPr>
              <a:t>- 실행: PM2로 백엔드 앱 실행</a:t>
            </a:r>
            <a:endParaRPr b="0" i="0" sz="125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F6"/>
              </a:buClr>
              <a:buSzPts val="1250"/>
              <a:buFont typeface="Arial"/>
              <a:buNone/>
            </a:pPr>
            <a:r>
              <a:rPr b="0" i="0" lang="ko" sz="1250" u="none" cap="none" strike="noStrike">
                <a:solidFill>
                  <a:srgbClr val="EEF3F6"/>
                </a:solidFill>
                <a:latin typeface="Arial"/>
                <a:ea typeface="Arial"/>
                <a:cs typeface="Arial"/>
                <a:sym typeface="Arial"/>
              </a:rPr>
              <a:t>- 모니터링: pm2-metrics → Prometheus scrape → Grafana 시각화</a:t>
            </a:r>
            <a:endParaRPr b="0" i="0" sz="125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F6"/>
              </a:buClr>
              <a:buSzPts val="1250"/>
              <a:buFont typeface="Arial"/>
              <a:buNone/>
            </a:pPr>
            <a:r>
              <a:rPr b="0" i="0" lang="ko" sz="1250" u="none" cap="none" strike="noStrike">
                <a:solidFill>
                  <a:srgbClr val="EEF3F6"/>
                </a:solidFill>
                <a:latin typeface="Arial"/>
                <a:ea typeface="Arial"/>
                <a:cs typeface="Arial"/>
                <a:sym typeface="Arial"/>
              </a:rPr>
              <a:t>- 포함할 내용: 프로젝트 개요, 아키텍처, 실행 방법, 모니터링 확인, 트러블슈팅</a:t>
            </a:r>
            <a:endParaRPr b="0" i="0" sz="125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F6"/>
              </a:buClr>
              <a:buSzPts val="1250"/>
              <a:buFont typeface="Arial"/>
              <a:buNone/>
            </a:pPr>
            <a:r>
              <a:rPr b="0" i="0" lang="ko" sz="1250" u="none" cap="none" strike="noStrike">
                <a:solidFill>
                  <a:srgbClr val="EEF3F6"/>
                </a:solidFill>
                <a:latin typeface="Arial"/>
                <a:ea typeface="Arial"/>
                <a:cs typeface="Arial"/>
                <a:sym typeface="Arial"/>
              </a:rPr>
              <a:t>- 주의: 실제 IP, DB 비밀번호, 키 파일명은 노출하지 말고 placeholder로 작성</a:t>
            </a:r>
            <a:endParaRPr b="0" i="0" sz="1250" u="none" cap="none" strike="noStrike">
              <a:solidFill>
                <a:srgbClr val="EEF3F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F6"/>
              </a:buClr>
              <a:buSzPts val="1250"/>
              <a:buFont typeface="Arial"/>
              <a:buNone/>
            </a:pPr>
            <a:r>
              <a:t/>
            </a:r>
            <a:endParaRPr sz="1250">
              <a:solidFill>
                <a:srgbClr val="EEF3F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F6"/>
              </a:buClr>
              <a:buSzPts val="1250"/>
              <a:buFont typeface="Arial"/>
              <a:buNone/>
            </a:pPr>
            <a:r>
              <a:rPr lang="ko" sz="1250">
                <a:solidFill>
                  <a:srgbClr val="EEF3F6"/>
                </a:solidFill>
              </a:rPr>
              <a:t>※ Git 주소도 같지 제공하여 프로젝트를 파악할수 있게 하자</a:t>
            </a:r>
            <a:endParaRPr sz="1250">
              <a:solidFill>
                <a:srgbClr val="EEF3F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F6"/>
              </a:buClr>
              <a:buSzPts val="1250"/>
              <a:buFont typeface="Arial"/>
              <a:buNone/>
            </a:pPr>
            <a:r>
              <a:rPr lang="ko" sz="1250">
                <a:solidFill>
                  <a:srgbClr val="EEF3F6"/>
                </a:solidFill>
              </a:rPr>
              <a:t>※ 마크다운으로 안주고 맘대로 줄때가 있음, 그럴땐 파일로 다운받게 해달라고 해보자</a:t>
            </a:r>
            <a:endParaRPr sz="1250">
              <a:solidFill>
                <a:srgbClr val="EEF3F6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구조도를 이미지로 README에 추가하기</a:t>
            </a:r>
            <a:endParaRPr/>
          </a:p>
        </p:txBody>
      </p:sp>
      <p:sp>
        <p:nvSpPr>
          <p:cNvPr id="277" name="Google Shape;277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도구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https://app.diagrams.net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기본 구조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App Server EC2: Node.js App, PM2, pm2-metrics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Monitoring Server EC2: Prometheus, Grafana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DB Server EC2: MySQL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AI</a:t>
            </a:r>
            <a:r>
              <a:rPr lang="ko"/>
              <a:t>로 초안 만들기</a:t>
            </a:r>
            <a:endParaRPr/>
          </a:p>
        </p:txBody>
      </p:sp>
      <p:sp>
        <p:nvSpPr>
          <p:cNvPr id="283" name="Google Shape;283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46"/>
          <p:cNvSpPr/>
          <p:nvPr/>
        </p:nvSpPr>
        <p:spPr>
          <a:xfrm>
            <a:off x="311700" y="1152475"/>
            <a:ext cx="8520600" cy="3459300"/>
          </a:xfrm>
          <a:prstGeom prst="roundRect">
            <a:avLst>
              <a:gd fmla="val 3137" name="adj"/>
            </a:avLst>
          </a:prstGeom>
          <a:solidFill>
            <a:srgbClr val="171B22"/>
          </a:solidFill>
          <a:ln cap="flat" cmpd="sng" w="12700">
            <a:solidFill>
              <a:srgbClr val="2C33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46"/>
          <p:cNvSpPr txBox="1"/>
          <p:nvPr/>
        </p:nvSpPr>
        <p:spPr>
          <a:xfrm>
            <a:off x="311700" y="1152475"/>
            <a:ext cx="85206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lt1"/>
                </a:solidFill>
              </a:rPr>
              <a:t>AWS 기반 서비스 운영 구조도를 만들어줘.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lt1"/>
                </a:solidFill>
              </a:rPr>
              <a:t>구성은 다음과 같아.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lt1"/>
                </a:solidFill>
              </a:rPr>
              <a:t>- 사용자 요청은 Application Load Balancer로 들어온다.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lt1"/>
                </a:solidFill>
              </a:rPr>
              <a:t>- ALB는 Backend Server EC2 2대로 트래픽을 분산한다.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lt1"/>
                </a:solidFill>
              </a:rPr>
              <a:t>- 각 Backend Server EC2에는 Nginx, Frontend 정적 파일, NestJS Backend API, PM2, PM2 Metrics Exporter가 실행된다.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lt1"/>
                </a:solidFill>
              </a:rPr>
              <a:t>- Backend API는 DB Server EC2의 MySQL에 연결한다.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lt1"/>
                </a:solidFill>
              </a:rPr>
              <a:t>- Monitoring Server EC2에는 Nginx, Prometheus, Grafana가 실행된다.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lt1"/>
                </a:solidFill>
              </a:rPr>
              <a:t>- Prometheus는 각 Backend Server의 /metrics 엔드포인트를 scrape하고 내부 TSDB에 저장한다.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lt1"/>
                </a:solidFill>
              </a:rPr>
              <a:t>- Grafana는 Prometheus를 조회해서 대시보드를 보여준다.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lt1"/>
                </a:solidFill>
              </a:rPr>
              <a:t>- 개발자/운영자는 Grafana로 상태를 확인하고, Backend Server에 SSH 접속해서 PM2 로그와 애플리케이션 로그를 확인한 뒤 재시작 또는 배포한다.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lt1"/>
                </a:solidFill>
              </a:rPr>
              <a:t>다이어그램에는 인프라 구조, 서버별 실행 구성 요소, 연결 방향이 모두 보이게 해줘.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lt1"/>
                </a:solidFill>
              </a:rPr>
              <a:t>실제 IP, 비밀번호, 키 파일명은 넣지 말고 placeholder로 처리해줘.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lt1"/>
                </a:solidFill>
              </a:rPr>
              <a:t>draw.io에서 편집할 수 있는 XML 또는 JSON 형태로 출력해줘. </a:t>
            </a:r>
            <a:endParaRPr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075" cy="483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README </a:t>
            </a:r>
            <a:r>
              <a:rPr lang="ko"/>
              <a:t>에 추가</a:t>
            </a:r>
            <a:endParaRPr/>
          </a:p>
        </p:txBody>
      </p:sp>
      <p:sp>
        <p:nvSpPr>
          <p:cNvPr id="296" name="Google Shape;296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프로젝트에 이미지 파일을 추가하여 Push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Readme에 구조도 주소를 추가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## Architecture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/>
              <a:t>![서비스 아키텍처](이미지 주소) </a:t>
            </a:r>
            <a:endParaRPr b="1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README </a:t>
            </a:r>
            <a:r>
              <a:rPr lang="ko"/>
              <a:t>최종 확인</a:t>
            </a:r>
            <a:endParaRPr/>
          </a:p>
        </p:txBody>
      </p:sp>
      <p:sp>
        <p:nvSpPr>
          <p:cNvPr id="302" name="Google Shape;302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Git</a:t>
            </a:r>
            <a:r>
              <a:rPr lang="ko"/>
              <a:t>에서 REAME를 열어 완성된 문서 확인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구조도에 DevOps 를 추가하여 그려 보세요!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배운것들</a:t>
            </a:r>
            <a:endParaRPr/>
          </a:p>
        </p:txBody>
      </p:sp>
      <p:sp>
        <p:nvSpPr>
          <p:cNvPr id="308" name="Google Shape;308;p50"/>
          <p:cNvSpPr/>
          <p:nvPr/>
        </p:nvSpPr>
        <p:spPr>
          <a:xfrm>
            <a:off x="420595" y="1453090"/>
            <a:ext cx="987600" cy="987600"/>
          </a:xfrm>
          <a:prstGeom prst="ellipse">
            <a:avLst/>
          </a:prstGeom>
          <a:solidFill>
            <a:srgbClr val="2F80ED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50"/>
          <p:cNvSpPr/>
          <p:nvPr/>
        </p:nvSpPr>
        <p:spPr>
          <a:xfrm>
            <a:off x="466315" y="1681690"/>
            <a:ext cx="896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ko" sz="1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API</a:t>
            </a:r>
            <a:endParaRPr b="0" i="0" sz="17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0" name="Google Shape;310;p50"/>
          <p:cNvSpPr/>
          <p:nvPr/>
        </p:nvSpPr>
        <p:spPr>
          <a:xfrm>
            <a:off x="457171" y="1956010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NestJS</a:t>
            </a:r>
            <a:endParaRPr b="0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11" name="Google Shape;311;p50"/>
          <p:cNvCxnSpPr/>
          <p:nvPr/>
        </p:nvCxnSpPr>
        <p:spPr>
          <a:xfrm>
            <a:off x="1472155" y="1946866"/>
            <a:ext cx="640200" cy="0"/>
          </a:xfrm>
          <a:prstGeom prst="straightConnector1">
            <a:avLst/>
          </a:prstGeom>
          <a:noFill/>
          <a:ln cap="flat" cmpd="sng" w="25400">
            <a:solidFill>
              <a:srgbClr val="D7DEE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2" name="Google Shape;312;p50"/>
          <p:cNvSpPr/>
          <p:nvPr/>
        </p:nvSpPr>
        <p:spPr>
          <a:xfrm>
            <a:off x="2249395" y="1453090"/>
            <a:ext cx="987600" cy="987600"/>
          </a:xfrm>
          <a:prstGeom prst="ellipse">
            <a:avLst/>
          </a:prstGeom>
          <a:solidFill>
            <a:srgbClr val="22A06B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50"/>
          <p:cNvSpPr/>
          <p:nvPr/>
        </p:nvSpPr>
        <p:spPr>
          <a:xfrm>
            <a:off x="2295115" y="1681690"/>
            <a:ext cx="896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ko" sz="1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배포</a:t>
            </a:r>
            <a:endParaRPr b="0" i="0" sz="17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4" name="Google Shape;314;p50"/>
          <p:cNvSpPr/>
          <p:nvPr/>
        </p:nvSpPr>
        <p:spPr>
          <a:xfrm>
            <a:off x="2285971" y="1956010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EC2</a:t>
            </a:r>
            <a:endParaRPr b="0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15" name="Google Shape;315;p50"/>
          <p:cNvCxnSpPr/>
          <p:nvPr/>
        </p:nvCxnSpPr>
        <p:spPr>
          <a:xfrm>
            <a:off x="3300955" y="1946866"/>
            <a:ext cx="640200" cy="0"/>
          </a:xfrm>
          <a:prstGeom prst="straightConnector1">
            <a:avLst/>
          </a:prstGeom>
          <a:noFill/>
          <a:ln cap="flat" cmpd="sng" w="25400">
            <a:solidFill>
              <a:srgbClr val="D7DEE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6" name="Google Shape;316;p50"/>
          <p:cNvSpPr/>
          <p:nvPr/>
        </p:nvSpPr>
        <p:spPr>
          <a:xfrm>
            <a:off x="4078195" y="1453090"/>
            <a:ext cx="987600" cy="987600"/>
          </a:xfrm>
          <a:prstGeom prst="ellipse">
            <a:avLst/>
          </a:prstGeom>
          <a:solidFill>
            <a:srgbClr val="F59E0B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50"/>
          <p:cNvSpPr/>
          <p:nvPr/>
        </p:nvSpPr>
        <p:spPr>
          <a:xfrm>
            <a:off x="4123915" y="1681690"/>
            <a:ext cx="896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ko" sz="1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</a:t>
            </a:r>
            <a:endParaRPr b="0" i="0" sz="17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8" name="Google Shape;318;p50"/>
          <p:cNvSpPr/>
          <p:nvPr/>
        </p:nvSpPr>
        <p:spPr>
          <a:xfrm>
            <a:off x="4114771" y="1956010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PM2</a:t>
            </a:r>
            <a:endParaRPr b="0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19" name="Google Shape;319;p50"/>
          <p:cNvCxnSpPr/>
          <p:nvPr/>
        </p:nvCxnSpPr>
        <p:spPr>
          <a:xfrm>
            <a:off x="5129755" y="1946866"/>
            <a:ext cx="640200" cy="0"/>
          </a:xfrm>
          <a:prstGeom prst="straightConnector1">
            <a:avLst/>
          </a:prstGeom>
          <a:noFill/>
          <a:ln cap="flat" cmpd="sng" w="25400">
            <a:solidFill>
              <a:srgbClr val="D7DEE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0" name="Google Shape;320;p50"/>
          <p:cNvSpPr/>
          <p:nvPr/>
        </p:nvSpPr>
        <p:spPr>
          <a:xfrm>
            <a:off x="5906995" y="1453090"/>
            <a:ext cx="987600" cy="987600"/>
          </a:xfrm>
          <a:prstGeom prst="ellipse">
            <a:avLst/>
          </a:prstGeom>
          <a:solidFill>
            <a:srgbClr val="E11D48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50"/>
          <p:cNvSpPr/>
          <p:nvPr/>
        </p:nvSpPr>
        <p:spPr>
          <a:xfrm>
            <a:off x="5952715" y="1681690"/>
            <a:ext cx="896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ko" sz="1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</a:t>
            </a:r>
            <a:endParaRPr b="0" i="0" sz="17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2" name="Google Shape;322;p50"/>
          <p:cNvSpPr/>
          <p:nvPr/>
        </p:nvSpPr>
        <p:spPr>
          <a:xfrm>
            <a:off x="5943571" y="1956010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Prometheus</a:t>
            </a:r>
            <a:endParaRPr b="0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23" name="Google Shape;323;p50"/>
          <p:cNvCxnSpPr/>
          <p:nvPr/>
        </p:nvCxnSpPr>
        <p:spPr>
          <a:xfrm>
            <a:off x="6958555" y="1946866"/>
            <a:ext cx="640200" cy="0"/>
          </a:xfrm>
          <a:prstGeom prst="straightConnector1">
            <a:avLst/>
          </a:prstGeom>
          <a:noFill/>
          <a:ln cap="flat" cmpd="sng" w="25400">
            <a:solidFill>
              <a:srgbClr val="D7DEE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4" name="Google Shape;324;p50"/>
          <p:cNvSpPr/>
          <p:nvPr/>
        </p:nvSpPr>
        <p:spPr>
          <a:xfrm>
            <a:off x="7735795" y="1453090"/>
            <a:ext cx="987600" cy="987600"/>
          </a:xfrm>
          <a:prstGeom prst="ellipse">
            <a:avLst/>
          </a:prstGeom>
          <a:solidFill>
            <a:srgbClr val="7C3AED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50"/>
          <p:cNvSpPr/>
          <p:nvPr/>
        </p:nvSpPr>
        <p:spPr>
          <a:xfrm>
            <a:off x="7781515" y="1681690"/>
            <a:ext cx="896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ko" sz="1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시각화</a:t>
            </a:r>
            <a:endParaRPr b="0" i="0" sz="17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6" name="Google Shape;326;p50"/>
          <p:cNvSpPr/>
          <p:nvPr/>
        </p:nvSpPr>
        <p:spPr>
          <a:xfrm>
            <a:off x="7772371" y="1956010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Grafana</a:t>
            </a:r>
            <a:endParaRPr b="0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7" name="Google Shape;327;p50"/>
          <p:cNvSpPr/>
          <p:nvPr/>
        </p:nvSpPr>
        <p:spPr>
          <a:xfrm>
            <a:off x="466325" y="2761800"/>
            <a:ext cx="8101200" cy="23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Malgun Gothic"/>
              <a:buChar char="●"/>
            </a:pPr>
            <a:r>
              <a:rPr b="1" lang="ko" sz="2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로컬에서만 관리해본 코드 → Git에서 관리</a:t>
            </a:r>
            <a:endParaRPr b="1" sz="20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Malgun Gothic"/>
              <a:buChar char="●"/>
            </a:pPr>
            <a:r>
              <a:rPr b="1" lang="ko" sz="2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로컬에서만 돌려본 서버</a:t>
            </a:r>
            <a:r>
              <a:rPr b="1" lang="ko" sz="2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 → </a:t>
            </a:r>
            <a:r>
              <a:rPr b="1" lang="ko" sz="2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배포 프로세스를 통해 서비스</a:t>
            </a:r>
            <a:endParaRPr b="1" sz="20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Malgun Gothic"/>
              <a:buChar char="●"/>
            </a:pPr>
            <a:r>
              <a:rPr b="1" lang="ko" sz="2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 실행이 끝이 아니라 → 인프라 구축과 모니터링 운영까지</a:t>
            </a:r>
            <a:endParaRPr b="1" sz="20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000"/>
              <a:buFont typeface="Malgun Gothic"/>
              <a:buNone/>
            </a:pPr>
            <a:r>
              <a:t/>
            </a:r>
            <a:endParaRPr b="0" i="0" sz="2000" u="none" cap="none" strike="noStrike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고생하셨습니다</a:t>
            </a:r>
            <a:endParaRPr/>
          </a:p>
        </p:txBody>
      </p:sp>
      <p:sp>
        <p:nvSpPr>
          <p:cNvPr id="333" name="Google Shape;333;p51"/>
          <p:cNvSpPr txBox="1"/>
          <p:nvPr>
            <p:ph idx="1" type="body"/>
          </p:nvPr>
        </p:nvSpPr>
        <p:spPr>
          <a:xfrm>
            <a:off x="311700" y="1152475"/>
            <a:ext cx="8520600" cy="3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기억할 것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개발해야 한다면 → 왜 만드는지 → 뭘 만드는지 → 어떻게 만드는지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 sz="1800"/>
              <a:t>문제</a:t>
            </a:r>
            <a:r>
              <a:rPr lang="ko"/>
              <a:t>가 생기면 → 흐름을 </a:t>
            </a:r>
            <a:r>
              <a:rPr lang="ko"/>
              <a:t>생각하고 → 범위를 좁히고 → 원인을 찾음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다시 생각해 볼것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무작정 따라한 것들을 원리까지 이해해 보기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왜 사용하는지, 꼭 써야 하는지, 대안은 없는지 찾아보기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jenkins 를 왜 쓰지? 다른걸 쓸순 없나?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pm2, nginx 가 꼭 있어야 하나?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QnA</a:t>
            </a:r>
            <a:endParaRPr/>
          </a:p>
        </p:txBody>
      </p:sp>
      <p:sp>
        <p:nvSpPr>
          <p:cNvPr id="339" name="Google Shape;339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개발자 선배들에게 하고 싶은질문!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무엇이든 편안하게!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