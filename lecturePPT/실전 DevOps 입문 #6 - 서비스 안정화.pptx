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y="5143500" cx="9144000"/>
  <p:notesSz cx="6858000" cy="9144000"/>
  <p:embeddedFontLst>
    <p:embeddedFont>
      <p:font typeface="Proxima Nova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ProximaNova-boldItalic.fntdata"/><Relationship Id="rId70" Type="http://schemas.openxmlformats.org/officeDocument/2006/relationships/font" Target="fonts/ProximaNova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ProximaNova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7ebbf065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7ebbf065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481ee5fc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481ee5f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6dec056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6dec056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069a566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069a566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c754ff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c754f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c754ff3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6c754ff3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6c754ff3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6c754ff3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c754ff3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c754ff3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069a566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069a566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069a566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7069a566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7069a566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7069a566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dec056c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6dec056c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70d005b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70d005b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0d005b9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0d005b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c754ff3a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c754ff3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c754ff3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6c754ff3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dc007d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6dc007d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f7220ec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6f7220ec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069a566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7069a56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0d005b9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70d005b9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70d005b9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70d005b9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70d005b9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70d005b9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069a566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7069a56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7069a566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7069a566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069a566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7069a566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7069a566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7069a56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dec056c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6dec056c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7069a566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7069a566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6dec056c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6dec056c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dec056c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6dec056c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6dec056c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6dec056c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0d005b9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70d005b9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70d005b9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70d005b9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70d005b9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70d005b9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70d005b9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70d005b9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481ee5fca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481ee5fca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6b080a1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6b080a1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6b0f36c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6b0f36c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6b0f36c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6b0f36c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6b0f36ce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6b0f36ce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6b0f36ce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6b0f36ce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6b0f36ce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6b0f36ce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70d005b9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70d005b9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70d005b9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70d005b9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70d005b9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70d005b9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70d005b9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70d005b9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70d005b9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70d005b9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70d005b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70d005b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70d005b9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70d005b9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70d005b9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70d005b9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70d005b9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70d005b9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70d005b9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70d005b9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70d005b9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70d005b9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70d005b9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70d005b9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70d005b9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70d005b9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70d005b9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70d005b9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70d005b9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f70d005b9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70d005b9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70d005b9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70d005b9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70d005b9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71f0c5ca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71f0c5ca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70d005b9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70d005b9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acf89ce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facf89ce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#6 - 서비스 안정화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목표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chemeClr val="accent1"/>
                </a:solidFill>
              </a:rPr>
              <a:t>서비스 안정화</a:t>
            </a:r>
            <a:endParaRPr b="1" sz="2600"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Production 세팅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ko"/>
              <a:t>환경변수 설정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LB 설정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ko"/>
              <a:t>대상그룹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ko"/>
              <a:t>로드밸런서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pm2의 이해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순환패치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ko"/>
              <a:t>버전 관리와 롤백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54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최종 산출물</a:t>
            </a:r>
            <a:endParaRPr/>
          </a:p>
        </p:txBody>
      </p:sp>
      <p:pic>
        <p:nvPicPr>
          <p:cNvPr id="72" name="Google Shape;72;p15" title="ChatGPT Image 2026년 6월 14일 오후 10_48_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200" y="1027650"/>
            <a:ext cx="6771600" cy="38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새로운 아이템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타입: Freestyle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테스트 빌드 실행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디렉토리 생성 확인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Jenkins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</a:t>
            </a:r>
            <a:r>
              <a:rPr lang="ko"/>
              <a:t>Jenkins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1642435" cy="15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8100" y="1017725"/>
            <a:ext cx="3395449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3624" y="1017725"/>
            <a:ext cx="3425651" cy="3264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</a:t>
            </a:r>
            <a:r>
              <a:rPr lang="ko"/>
              <a:t> - </a:t>
            </a:r>
            <a:r>
              <a:rPr lang="ko"/>
              <a:t>Jenkins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207725" cy="22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4525" y="1017725"/>
            <a:ext cx="6319775" cy="210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git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mkdir deploy_project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deploy_project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init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remote add origin https://github.com/sjcestudy26/2026_study_lecture.git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git pull origin main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</a:t>
            </a:r>
            <a:r>
              <a:rPr lang="ko"/>
              <a:t>빌드 세팅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frontend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npm install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..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backend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npm install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cp .env.example .env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..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npm install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</a:t>
            </a:r>
            <a:r>
              <a:rPr lang="ko"/>
              <a:t>npm run build:zip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/>
              <a:t>빌드 확인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빌드 세팅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/var/lib/jenkins/workspace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cp test_deploy/deploy.sh Production/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cd </a:t>
            </a:r>
            <a:r>
              <a:rPr lang="ko"/>
              <a:t>Production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/>
              <a:t>복사 확인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vi deploy.sh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/>
              <a:t>PRJDIR 경로 수정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/>
              <a:t>git 설정 수정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user.name, user.email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origin/main, origin main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chmod +x deploy.sh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/>
              <a:t>sudo chown -R jenkins:jenkins deploy_project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</a:t>
            </a:r>
            <a:r>
              <a:rPr lang="ko"/>
              <a:t>Jenkins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/var/lib/jenkins/workspace/Production/deploy.sh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빌드 실행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환경변수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mkdir /var/lib/jenkins/.dpenv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mv /var/lib/jenkins/workspace/test_deploy/deploy_project/frontend/.env.production /var/lib/jenkins/.dpenv/.env.frontend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frontend 환경변수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chmod 600 /var/lib/jenkins/.dpenv/.env.frontend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환경변수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파일질라로 backend </a:t>
            </a:r>
            <a:r>
              <a:rPr lang="ko"/>
              <a:t>인스턴스의</a:t>
            </a:r>
            <a:r>
              <a:rPr lang="ko"/>
              <a:t> .env 파일 전송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mv /home/ubuntu/.env /var/lib/jenkins/.dpenv/.env.backend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backend 환경변수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chmod 600 /var/lib/jenkins/.dpenv/.env.backend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chown -R jenkins:jenkins /var/lib/jenkins/.dpenv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환경변수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 </a:t>
            </a:r>
            <a:r>
              <a:rPr lang="ko"/>
              <a:t>/var/lib/jenkins/.dpenv/.env.frontend</a:t>
            </a:r>
            <a:r>
              <a:rPr lang="ko"/>
              <a:t> /var/lib/jenkins/workspace/Production/deploy_project/frontend/.env.production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 /var/lib/jenkins/.dpenv/.env.backend /var/lib/jenkins/workspace/Production/deploy_project/backend/.env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chmod +r /var/lib/jenkins/workspace/Production/deploy_project/frontend/.env.production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chmod +r /var/lib/jenkins/workspace/Production/deploy_project/backend/.env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Production - 환경변수</a:t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330574" cy="27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</a:t>
            </a:r>
            <a:r>
              <a:rPr lang="ko"/>
              <a:t>- </a:t>
            </a:r>
            <a:r>
              <a:rPr lang="ko"/>
              <a:t>대상그룹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TG-Frontend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 유형: 인스턴스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프로토콜: HTTP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포트: 5173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TG-Backend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 유형: 인스턴스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프로토콜: HTTP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포트: 3000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</a:t>
            </a:r>
            <a:r>
              <a:rPr lang="ko"/>
              <a:t>설정</a:t>
            </a:r>
            <a:r>
              <a:rPr lang="ko"/>
              <a:t> - 로드밸런서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LB-</a:t>
            </a:r>
            <a:r>
              <a:rPr lang="ko"/>
              <a:t>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ALB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가용 영역 및 서브넷: 전체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보안 그룹 생성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이름: </a:t>
            </a:r>
            <a:r>
              <a:rPr lang="ko"/>
              <a:t>SG-Production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보안 그룹 생성 - HTTP 허용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 그룹: TG-Frontend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backend_devops 인스턴스 보안 그룹 수정 - 인바운드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5173 0.0.0.0/0 -&gt; 5173 SG-</a:t>
            </a:r>
            <a:r>
              <a:rPr lang="ko"/>
              <a:t>Production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</a:t>
            </a:r>
            <a:r>
              <a:rPr lang="ko"/>
              <a:t>- 로드밸런서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LB-Backend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ALB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가용 영역 및 서브넷: 전체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</a:t>
            </a:r>
            <a:r>
              <a:rPr lang="ko"/>
              <a:t>보안 그룹: SG-Production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대상 그룹: TG-Backend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backend_devops 인스턴스 보안 그룹 수정 - 인바운드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3000 0.0.0.0/0 -&gt; 3000 SG-</a:t>
            </a:r>
            <a:r>
              <a:rPr lang="ko"/>
              <a:t>Production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</a:t>
            </a:r>
            <a:r>
              <a:rPr lang="ko"/>
              <a:t>- 로드밸런서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DNS</a:t>
            </a:r>
            <a:r>
              <a:rPr lang="ko"/>
              <a:t>로 접속 확인</a:t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51075"/>
            <a:ext cx="7470825" cy="330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/var/lib/jenkins/.dpenv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.env.frontend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VITE_API_URL 주소를 LB-Backend DNS로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단, 대소문자는 구분이 있어서 대문자는 소문자로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VITE_API_URL=http://lb-backend-277043075.ap-northeast-2.elb.amazonaws.com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.env.backend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CORS_ORIGINS</a:t>
            </a:r>
            <a:r>
              <a:rPr lang="ko"/>
              <a:t> 주소를 LB-Frontend DNS로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단, 대소문자는 구분이 있어서 대문자는 소문자로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ex) CORS_ORIGINS=http://lb-frontend-45208654.ap-northeast-2.elb.amazonaws.com,http://localhost:5173</a:t>
            </a:r>
            <a:endParaRPr/>
          </a:p>
        </p:txBody>
      </p:sp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환경변수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대상그룹 등록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003751" cy="18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93550"/>
            <a:ext cx="5076226" cy="20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대상그룹 </a:t>
            </a:r>
            <a:r>
              <a:rPr lang="ko"/>
              <a:t>해제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248773" cy="305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Amazon Web Services Command Line Interface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터미널에서 명령어로 AWS 서비스를 제어하고 관리할 수 있게 해주는 도구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콘솔에서 설정하는 번거로움 없이, 빠르고 효율적으로 AWS 인프라를 조작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AWS에서 제공하는 거의 모든 서비스의 API를 명령어 형태로 지원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반복적인 작업을 자동화</a:t>
            </a:r>
            <a:endParaRPr sz="1400"/>
          </a:p>
        </p:txBody>
      </p:sp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CLI란?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cli 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curl "https://awscli.amazonaws.com/awscli-exe-linux-x86_64.zip" -o "awscliv2.zip"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unzip awscliv2.zip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./aws/install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--version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설치 확인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</a:t>
            </a:r>
            <a:r>
              <a:rPr lang="ko"/>
              <a:t> 설치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역할 이름: ELB_TG_Register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iam 설정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elasticloadbalancing:DescribeTargetGroups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elasticloadbalancing:RegisterTargets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elasticloadbalancing:DeregisterTargets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sts get-caller-identity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역할 확인</a:t>
            </a:r>
            <a:endParaRPr sz="1400"/>
          </a:p>
        </p:txBody>
      </p:sp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</a:t>
            </a:r>
            <a:r>
              <a:rPr lang="ko"/>
              <a:t>정</a:t>
            </a:r>
            <a:endParaRPr/>
          </a:p>
        </p:txBody>
      </p:sp>
      <p:pic>
        <p:nvPicPr>
          <p:cNvPr id="209" name="Google Shape;2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648721" cy="15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11825"/>
            <a:ext cx="8338050" cy="17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</p:txBody>
      </p:sp>
      <p:pic>
        <p:nvPicPr>
          <p:cNvPr id="216" name="Google Shape;2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936475" cy="21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401075"/>
            <a:ext cx="5847388" cy="164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{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"Version": "2012-10-17",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"Statement": [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{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"Effect": "Allow",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"Action": [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"elasticloadbalancing:DescribeTargetGroups",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"elasticloadbalancing:RegisterTargets",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"elasticloadbalancing:DeregisterTargets"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],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"Resource": "*"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]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53201" cy="17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08525"/>
            <a:ext cx="3261277" cy="208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1602" y="2908525"/>
            <a:ext cx="4668629" cy="20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CLI 설정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217812" cy="16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638225"/>
            <a:ext cx="7149374" cy="13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4026450"/>
            <a:ext cx="7073136" cy="81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새로운 아이템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AWS_LB_FRONTEND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타입: Freestyle project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테스트 빌드 실행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디렉토리 생성 확인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  <p:sp>
        <p:nvSpPr>
          <p:cNvPr id="251" name="Google Shape;25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</a:t>
            </a:r>
            <a:r>
              <a:rPr lang="ko"/>
              <a:t>/var/lib/jenkins/workspace/AWS_LB_FRONTEND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lb.sh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다음장 스크립트 참고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chmod +x </a:t>
            </a:r>
            <a:r>
              <a:rPr lang="ko"/>
              <a:t>lb</a:t>
            </a:r>
            <a:r>
              <a:rPr lang="ko"/>
              <a:t>.sh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  <p:sp>
        <p:nvSpPr>
          <p:cNvPr id="257" name="Google Shape;25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대상그룹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REGION="ap-northeast-2"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TARGET_GROUP_ARN={target_group_arn}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ID={instance_id}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"$ACTION" = "REGISTER"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"Registering target..."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aws elbv2 register-targets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--region "$REGION"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--target-group-arn "$TARGET_GROUP_ARN"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--targets Id="$ID"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"Target registered."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elif [ "$ACTION" = "DEREGISTER"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"Deregistering target..."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aws elbv2 deregister-targets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--region "$REGION"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--target-group-arn "$TARGET_GROUP_ARN" \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    --targets Id="$ID"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"Target deregistered."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  <p:pic>
        <p:nvPicPr>
          <p:cNvPr id="263" name="Google Shape;26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094269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4" y="1017725"/>
            <a:ext cx="4433230" cy="265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Jenkins</a:t>
            </a:r>
            <a:endParaRPr/>
          </a:p>
        </p:txBody>
      </p:sp>
      <p:sp>
        <p:nvSpPr>
          <p:cNvPr id="270" name="Google Shape;27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 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ACTION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Choices: REGISTER, DEREGISTER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</a:t>
            </a:r>
            <a:r>
              <a:rPr lang="ko"/>
              <a:t>AWS_LB_FRONTEND</a:t>
            </a:r>
            <a:r>
              <a:rPr lang="ko"/>
              <a:t>/lb.sh ${ACTION}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 Jenkins 만들기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이름: AWS_LB_BACKEND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6" name="Google Shape;27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LB 설정 - </a:t>
            </a:r>
            <a:r>
              <a:rPr lang="ko"/>
              <a:t>실습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pm2란?</a:t>
            </a:r>
            <a:endParaRPr/>
          </a:p>
        </p:txBody>
      </p:sp>
      <p:sp>
        <p:nvSpPr>
          <p:cNvPr id="282" name="Google Shape;28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Process Manager 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Node.js 애플리케이션을 운영 환경에서 안정적으로 관리하고 구동할 수 있도록 돕는 대표적인 프로세스 관리자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백엔드 서버를 구축하고 운영할 때 실무에서 자주 사용되는 도구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단일 스레드와 치명적 예외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Node.js는 기본적으로 싱글 스레드로 동작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에러가 발생하면 프로세스가 종료되는 특성으로 </a:t>
            </a:r>
            <a:r>
              <a:rPr lang="ko"/>
              <a:t>사용자 요청 중단 및 서비스 장애로 직결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운영자가 수동으로 매번 서버를 재시작해야 하는 치명적 한계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개선책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예기치 못한 종료를 방지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서버가 재부팅되더라도 애플리케이션을 자동으로 실행</a:t>
            </a:r>
            <a:endParaRPr/>
          </a:p>
        </p:txBody>
      </p:sp>
      <p:sp>
        <p:nvSpPr>
          <p:cNvPr id="288" name="Google Shape;28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</a:t>
            </a:r>
            <a:r>
              <a:rPr lang="ko"/>
              <a:t>를 왜 사용할까?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싱글 코어 자원 활용의 비효율성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Node.js는 하나의 코어만 활용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최신 서버 CPU는 멀티 코어 구조라, </a:t>
            </a:r>
            <a:r>
              <a:rPr lang="ko"/>
              <a:t>서버 사양이 높아져도 CPU 자원을 낭비하게 됨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멀티 코어 병렬 처리 및 부하 분산 아키텍처 필수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개선책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멀티 코어 시스템의 자원을 최대한 활용</a:t>
            </a:r>
            <a:endParaRPr/>
          </a:p>
        </p:txBody>
      </p:sp>
      <p:sp>
        <p:nvSpPr>
          <p:cNvPr id="294" name="Google Shape;29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pm2를 왜 사용할까?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프로세스 관리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 실행, 종료, 재시작 지원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무중단 서비스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프로세스가 에러로 종료되더라도, 자동으로 서버를 재시작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서버가 재부팅되더라도 설정을 통해 자동으로 다시 실행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무중단 배포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새 버전 배포 시 연결을 최대한 유지하면서 재시작</a:t>
            </a:r>
            <a:endParaRPr/>
          </a:p>
        </p:txBody>
      </p:sp>
      <p:sp>
        <p:nvSpPr>
          <p:cNvPr id="300" name="Google Shape;30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</a:t>
            </a:r>
            <a:r>
              <a:rPr lang="ko"/>
              <a:t> 특징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클러스터 모드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CPU 코어를 여러 프로세스로 활용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프로세스 숫자만큼 멀티 코어 병렬 처리를 활용하여 성능을 향상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실시간 모니터링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CPU, 메모리 사용량을 실시간으로 확인 가능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각 프로세스 상태를</a:t>
            </a:r>
            <a:r>
              <a:rPr lang="ko"/>
              <a:t> 실시간으로 확인 가능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로그 관리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일반 로그</a:t>
            </a:r>
            <a:r>
              <a:rPr lang="ko"/>
              <a:t>와 </a:t>
            </a:r>
            <a:r>
              <a:rPr lang="ko"/>
              <a:t>에러 로그</a:t>
            </a:r>
            <a:r>
              <a:rPr lang="ko"/>
              <a:t>를 파일로 분산 저장 및 관리</a:t>
            </a:r>
            <a:endParaRPr/>
          </a:p>
        </p:txBody>
      </p:sp>
      <p:sp>
        <p:nvSpPr>
          <p:cNvPr id="306" name="Google Shape;30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특징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</a:t>
            </a:r>
            <a:r>
              <a:rPr lang="ko"/>
              <a:t>npm install -g pm2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</a:t>
            </a:r>
            <a:r>
              <a:rPr lang="ko"/>
              <a:t>설치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pm2 init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설정 파일 생성</a:t>
            </a:r>
            <a:endParaRPr/>
          </a:p>
        </p:txBody>
      </p:sp>
      <p:sp>
        <p:nvSpPr>
          <p:cNvPr id="312" name="Google Shape;31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</a:t>
            </a:r>
            <a:r>
              <a:rPr lang="ko"/>
              <a:t>설치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pkill -f "node dist/main.js" || true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backend 서비스 종료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fuser -k 5173/tcp || true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기존 frontend 서비스 종료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/var/www/lecture-eval/backend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pm2 start </a:t>
            </a:r>
            <a:r>
              <a:rPr lang="ko"/>
              <a:t>launch-backend.config.js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/var/www/lecture-eval/frontend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pm2 start launch-frontend.config.js</a:t>
            </a:r>
            <a:endParaRPr/>
          </a:p>
        </p:txBody>
      </p:sp>
      <p:sp>
        <p:nvSpPr>
          <p:cNvPr id="318" name="Google Shape;31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</a:t>
            </a:r>
            <a:r>
              <a:rPr lang="ko"/>
              <a:t>실행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실행 </a:t>
            </a:r>
            <a:r>
              <a:rPr lang="ko"/>
              <a:t>- </a:t>
            </a:r>
            <a:r>
              <a:rPr lang="ko"/>
              <a:t>자동화</a:t>
            </a:r>
            <a:endParaRPr/>
          </a:p>
        </p:txBody>
      </p:sp>
      <p:sp>
        <p:nvSpPr>
          <p:cNvPr id="324" name="Google Shape;32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reload /var/www/lecture-eval/backend/launch-backend.config.js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restart /var/www/lecture-eval/backend/launch-backend.config.js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reload /var/www/lecture-eval/frontend/launch-frontend.config.js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pm2 restart /var/www/lecture-eval/frontend/launch-frontend.config.js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pm2 실행 - 자동화</a:t>
            </a:r>
            <a:endParaRPr/>
          </a:p>
        </p:txBody>
      </p:sp>
      <p:pic>
        <p:nvPicPr>
          <p:cNvPr id="330" name="Google Shape;33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827899" cy="37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AMI로 인스턴스 복제</a:t>
            </a:r>
            <a:endParaRPr/>
          </a:p>
        </p:txBody>
      </p:sp>
      <p:sp>
        <p:nvSpPr>
          <p:cNvPr id="336" name="Google Shape;33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AMI </a:t>
            </a:r>
            <a:r>
              <a:rPr lang="ko"/>
              <a:t>이름: 260815_backend_devops</a:t>
            </a:r>
            <a:endParaRPr/>
          </a:p>
        </p:txBody>
      </p:sp>
      <p:pic>
        <p:nvPicPr>
          <p:cNvPr id="337" name="Google Shape;33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345524" cy="16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AMI로 인스턴스 복제</a:t>
            </a:r>
            <a:endParaRPr/>
          </a:p>
        </p:txBody>
      </p:sp>
      <p:sp>
        <p:nvSpPr>
          <p:cNvPr id="343" name="Google Shape;343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이름: backend_devops2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설정 값은 기존 인스턴스와 동일</a:t>
            </a:r>
            <a:endParaRPr/>
          </a:p>
        </p:txBody>
      </p:sp>
      <p:pic>
        <p:nvPicPr>
          <p:cNvPr id="344" name="Google Shape;34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046499" cy="13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Jenkins(AWS_LB_FRONTEND)</a:t>
            </a:r>
            <a:endParaRPr/>
          </a:p>
        </p:txBody>
      </p:sp>
      <p:sp>
        <p:nvSpPr>
          <p:cNvPr id="350" name="Google Shape;35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 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TARGET_GROUP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Choices: A, B, ALL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/var/lib/jenkins/workspace/AWS_LB_FRONTEND/lb.sh ${ACTION} ${TARGET_GROUP}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/var/lib/jenkins/workspace/AWS_LB_FRONTEND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</a:t>
            </a:r>
            <a:r>
              <a:rPr lang="ko"/>
              <a:t>dp_A.list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1</a:t>
            </a:r>
            <a:r>
              <a:rPr lang="ko"/>
              <a:t>번 서버 인스턴스 ID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dp_B.list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2번 서버 인스턴스 ID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dp_ALL.list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전체 서버 인스턴스 ID</a:t>
            </a:r>
            <a:endParaRPr/>
          </a:p>
        </p:txBody>
      </p:sp>
      <p:sp>
        <p:nvSpPr>
          <p:cNvPr id="356" name="Google Shape;35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</a:t>
            </a:r>
            <a:r>
              <a:rPr lang="ko"/>
              <a:t> - Jenkins(AWS_LB_FRONTEND)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Jenkins(AWS_LB_FRONTEND)</a:t>
            </a:r>
            <a:endParaRPr/>
          </a:p>
        </p:txBody>
      </p:sp>
      <p:sp>
        <p:nvSpPr>
          <p:cNvPr id="362" name="Google Shape;362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/var/lib/jenkins/workspace/AWS_LB_FRONTEND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lb.sh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ID를 FILE_NAME으로 수정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FILE_NAME="dp_$TARGET_GROUP.list"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메인 로직 위 아래에 스크립트 추가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while IFS= read -r ID; do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done &lt; ${FILE_NAME}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Jenkins(AWS_LB_FRONTEND)</a:t>
            </a:r>
            <a:endParaRPr/>
          </a:p>
        </p:txBody>
      </p:sp>
      <p:pic>
        <p:nvPicPr>
          <p:cNvPr id="368" name="Google Shape;36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43974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BACKEND Jenkins </a:t>
            </a:r>
            <a:r>
              <a:rPr lang="ko"/>
              <a:t>설정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74" name="Google Shape;37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</a:t>
            </a:r>
            <a:r>
              <a:rPr lang="ko"/>
              <a:t>- 실습(AWS_LB_BACKEND)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</a:t>
            </a:r>
            <a:r>
              <a:rPr lang="ko"/>
              <a:t>Production</a:t>
            </a:r>
            <a:r>
              <a:rPr lang="ko"/>
              <a:t>)</a:t>
            </a:r>
            <a:endParaRPr/>
          </a:p>
        </p:txBody>
      </p:sp>
      <p:sp>
        <p:nvSpPr>
          <p:cNvPr id="380" name="Google Shape;380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 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TARGET_GROUP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Choices: A, B, ALL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/var/lib/jenkins/workspace/Production/deploy.sh ${TARGET_GROUP}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dp_A.list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1번 서버 인스턴스 Private IP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dp_B.list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2번 서버 인스턴스 </a:t>
            </a:r>
            <a:r>
              <a:rPr lang="ko"/>
              <a:t>Private </a:t>
            </a:r>
            <a:r>
              <a:rPr lang="ko"/>
              <a:t>IP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dp_ALL.list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전체 서버 인스턴스 </a:t>
            </a:r>
            <a:r>
              <a:rPr lang="ko"/>
              <a:t>Private </a:t>
            </a:r>
            <a:r>
              <a:rPr lang="ko"/>
              <a:t>IP</a:t>
            </a:r>
            <a:endParaRPr/>
          </a:p>
        </p:txBody>
      </p:sp>
      <p:sp>
        <p:nvSpPr>
          <p:cNvPr id="386" name="Google Shape;38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</a:t>
            </a:r>
            <a:r>
              <a:rPr lang="ko"/>
              <a:t>Production</a:t>
            </a:r>
            <a:r>
              <a:rPr lang="ko"/>
              <a:t>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</a:t>
            </a:r>
            <a:r>
              <a:rPr lang="ko"/>
              <a:t>Production</a:t>
            </a:r>
            <a:r>
              <a:rPr lang="ko"/>
              <a:t>)</a:t>
            </a:r>
            <a:endParaRPr/>
          </a:p>
        </p:txBody>
      </p:sp>
      <p:sp>
        <p:nvSpPr>
          <p:cNvPr id="392" name="Google Shape;392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REMOTE_IP 변수 제거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FILE_NAME </a:t>
            </a:r>
            <a:r>
              <a:rPr lang="ko"/>
              <a:t>변수 추가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FILE_NAME="/var/lib/jenkins/workspace/Production/dp_$TARGET_GROUP.list"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전송, 적용 로직</a:t>
            </a:r>
            <a:r>
              <a:rPr lang="ko"/>
              <a:t> 위 아래에 스크립트 추가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while IFS= read -r </a:t>
            </a:r>
            <a:r>
              <a:rPr lang="ko"/>
              <a:t>REMOTE_IP</a:t>
            </a:r>
            <a:r>
              <a:rPr lang="ko"/>
              <a:t>; do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ko"/>
              <a:t>done &lt; ${FILE_NAME}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순환패치 - Jenkins(Production)</a:t>
            </a:r>
            <a:endParaRPr/>
          </a:p>
        </p:txBody>
      </p:sp>
      <p:pic>
        <p:nvPicPr>
          <p:cNvPr id="398" name="Google Shape;39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648076" cy="187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88625"/>
            <a:ext cx="3648075" cy="214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</a:t>
            </a:r>
            <a:r>
              <a:rPr lang="ko"/>
              <a:t>란?</a:t>
            </a:r>
            <a:endParaRPr/>
          </a:p>
        </p:txBody>
      </p:sp>
      <p:sp>
        <p:nvSpPr>
          <p:cNvPr id="405" name="Google Shape;40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파일이나 소프트웨어가 시간에 따라 어떻게 변경되었는지를 기록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특정 시점의 상태를 추적하거나 복원할 수 있도록 관리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관리 방법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MAJOR.MINOR.PATCH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MAJOR: 호환성이 깨지는 큰 변경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MINOR: 기존 기능과 호환되는 새로운 기능을 추가한 경우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PATCH: 버그 수정이나 작은 변경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 </a:t>
            </a:r>
            <a:r>
              <a:rPr lang="ko"/>
              <a:t>- Jenkins(Production)</a:t>
            </a:r>
            <a:endParaRPr/>
          </a:p>
        </p:txBody>
      </p:sp>
      <p:sp>
        <p:nvSpPr>
          <p:cNvPr id="411" name="Google Shape;411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String </a:t>
            </a:r>
            <a:r>
              <a:rPr lang="ko"/>
              <a:t>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VERSION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Default Value: None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설명: ex) 1.0.0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Build Steps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Execute shell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/var/lib/jenkins/workspace/Production/deploy.sh ${TARGET_GROUP} ${</a:t>
            </a:r>
            <a:r>
              <a:rPr lang="ko"/>
              <a:t>VERSION</a:t>
            </a:r>
            <a:r>
              <a:rPr lang="ko"/>
              <a:t>}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 - Jenkins(Production)</a:t>
            </a:r>
            <a:endParaRPr/>
          </a:p>
        </p:txBody>
      </p:sp>
      <p:sp>
        <p:nvSpPr>
          <p:cNvPr id="417" name="Google Shape;417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cd /var/lib/jenkins/workspace/Production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sudo vi deploy.sh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다음장 스크립트 참고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 - Jenkins(Production)</a:t>
            </a:r>
            <a:endParaRPr/>
          </a:p>
        </p:txBody>
      </p:sp>
      <p:sp>
        <p:nvSpPr>
          <p:cNvPr id="423" name="Google Shape;423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VERSION_DIR="/var/lib/jenkins/workspace/Production/version"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"$VERSION" = "None"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"Not backup version"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"Backup version: $VERSION"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mkdir -p "$VERSION_DIR/frontend"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mkdir -p "$VERSION_DIR/backend"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cp ${FRONTEND_FILE} "$VERSION_DIR/frontend/frontend-deploy-$VERSION.zip"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cp ${BACKEND_FILE} "$VERSION_DIR/backend/backend-deploy-$VERSION.zip"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"Backup end"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버전 관리 - Jenkins(Production)</a:t>
            </a:r>
            <a:endParaRPr/>
          </a:p>
        </p:txBody>
      </p:sp>
      <p:pic>
        <p:nvPicPr>
          <p:cNvPr id="429" name="Google Shape;42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619374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Rollback 젠킨스 생성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매개변수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String Parameter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Name: RB_VERSION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Default Value: None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RB_VERSION으로 </a:t>
            </a:r>
            <a:r>
              <a:rPr lang="ko"/>
              <a:t>Rollback 하는 sh 작성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35" name="Google Shape;43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롤백</a:t>
            </a:r>
            <a:r>
              <a:rPr lang="ko"/>
              <a:t> - 실습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롤백 - 실습</a:t>
            </a:r>
            <a:endParaRPr/>
          </a:p>
        </p:txBody>
      </p:sp>
      <p:sp>
        <p:nvSpPr>
          <p:cNvPr id="441" name="Google Shape;441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echo "build"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PRJDIR="/var/lib/jenkins/workspace/Rollback"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cd ${PRJDIR}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echo "deploy"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PEM_PATH="/var/lib/jenkins/.ssh/key_devops-test.pem"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REMOTE_USER="ubuntu"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REMOTE_DIR="/home/ubuntu/"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VERSION_DIR="/var/lib/jenkins/workspace/Production/version"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RB_FRONTEND_FILE="$VERSION_DIR/frontend/frontend-deploy-${RB_VERSION}.zip"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RB_BACKEND_FILE="$VERSION_DIR/backend/backend-deploy-${RB_VERSION}.zip"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FILE_NAME="/var/lib/jenkins/workspace/Production/dp_$TARGET_GROUP.list"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FRONTEND_FILE="$PRJDIR/frontend-deploy.zip"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BACKEND_FILE="$PRJDIR/backend-deploy.zip"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cp ${RB_FRONTEND_FILE} ${FRONTEND_FILE}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cp ${RB_BACKEND_FILE} ${BACKEND_FILE}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while IFS= read -r REMOTE_IP; do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scp -i "$PEM_PATH" -o StrictHostKeyChecking=no "$FRONTEND_FILE" "$REMOTE_USER@$REMOTE_IP:$REMOTE_DIR"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$? -eq 0 ];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"frontend deploy SUCCESS"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# ssh -i "$PEM_PATH" -o StrictHostKeyChecking=no "$REMOTE_USER@$REMOTE_IP" "sudo systemctl restart my-service"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"frontend deploy FAIL"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scp -i "$PEM_PATH" -o StrictHostKeyChecking=no "$BACKEND_FILE" "$REMOTE_USER@$REMOTE_IP:$REMOTE_DIR"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 [ $? -eq 0 ]; then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"backend deploy SUCCESS"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# ssh -i "$PEM_PATH" -o StrictHostKeyChecking=no "$REMOTE_USER@$REMOTE_IP" "sudo systemctl restart my-service"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else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echo "backend deploy FAIL"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   exit 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echo "apply"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ssh -i "$PEM_PATH" -o StrictHostKeyChecking=no "$REMOTE_USER@$REMOTE_IP" &lt;&lt; 'EOF'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sudo mkdir -p /var/www/lecture-eval/backend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sudo mkdir -p /var/www/lecture-eval/frontend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cd /home/ubuntu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sudo mv ~/backend-deploy.zip /var/www/lecture-eval/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sudo mv ~/frontend-deploy.zip /var/www/lecture-eval/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cd /var/www/lecture-eval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sudo unzip -o backend-deploy.zip -d backend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sudo unzip -o frontend-deploy.zip -d frontend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pm2 reload /var/www/lecture-eval/backend/launch-backend.config.js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pm2 restart /var/www/lecture-eval/backend/launch-backend.config.js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pm2 reload /var/www/lecture-eval/frontend/launch-frontend.config.js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pm2 restart /var/www/lecture-eval/frontend/launch-frontend.config.js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EOF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done &lt; ${FILE_NAME}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